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5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2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5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342132"/>
            <a:ext cx="11601450" cy="1508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940"/>
              </a:lnSpc>
            </a:pPr>
            <a:r>
              <a:rPr sz="5400" b="1" i="0" u="none">
                <a:solidFill>
                  <a:srgbClr val="F8FAFC"/>
                </a:solidFill>
                <a:latin typeface="Space Grotesk"/>
              </a:rPr>
              <a:t>Internship Evaluation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041153"/>
            <a:ext cx="11049000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sz="2100" b="0" i="0" u="none" dirty="0">
                <a:solidFill>
                  <a:srgbClr val="06B6D4"/>
                </a:solidFill>
                <a:latin typeface="Space Grotesk"/>
              </a:rPr>
              <a:t>Ethical Hacking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25" y="4054925"/>
            <a:ext cx="10810875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Inter SemiBold"/>
              </a:rPr>
              <a:t>Candidate Name</a:t>
            </a:r>
            <a:r>
              <a:rPr lang="en-IN" sz="1200" b="0" i="0" u="none" dirty="0">
                <a:solidFill>
                  <a:srgbClr val="64748B"/>
                </a:solidFill>
                <a:latin typeface="Inter SemiBold"/>
              </a:rPr>
              <a:t>               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Navya Mahajan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endParaRPr lang="en-IN" sz="1200" b="0" i="0" u="none" dirty="0">
              <a:solidFill>
                <a:srgbClr val="000000"/>
              </a:solidFill>
              <a:latin typeface="Inter"/>
            </a:endParaRPr>
          </a:p>
          <a:p>
            <a:pPr algn="l"/>
            <a:r>
              <a:rPr sz="1200" b="0" i="0" u="none" dirty="0">
                <a:solidFill>
                  <a:srgbClr val="64748B"/>
                </a:solidFill>
                <a:latin typeface="Inter SemiBold"/>
              </a:rPr>
              <a:t>Roll No.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r>
              <a:rPr lang="en-IN" sz="1200" b="0" i="0" u="none" dirty="0">
                <a:solidFill>
                  <a:srgbClr val="000000"/>
                </a:solidFill>
                <a:latin typeface="Inter"/>
              </a:rPr>
              <a:t>                             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2410030563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endParaRPr lang="en-IN" sz="1200" b="0" i="0" u="none" dirty="0">
              <a:solidFill>
                <a:srgbClr val="000000"/>
              </a:solidFill>
              <a:latin typeface="Inter"/>
            </a:endParaRPr>
          </a:p>
          <a:p>
            <a:pPr algn="l"/>
            <a:r>
              <a:rPr sz="1200" b="0" i="0" u="none" dirty="0">
                <a:solidFill>
                  <a:srgbClr val="64748B"/>
                </a:solidFill>
                <a:latin typeface="Inter SemiBold"/>
              </a:rPr>
              <a:t>Institution</a:t>
            </a:r>
            <a:r>
              <a:rPr lang="en-IN" sz="1200" b="0" i="0" u="none" dirty="0">
                <a:solidFill>
                  <a:srgbClr val="64748B"/>
                </a:solidFill>
                <a:latin typeface="Inter SemiBold"/>
              </a:rPr>
              <a:t>                         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IILM University, Greater Noida</a:t>
            </a:r>
            <a:endParaRPr lang="en-IN" sz="1200" b="0" i="0" u="none" dirty="0">
              <a:solidFill>
                <a:srgbClr val="F8FAFC"/>
              </a:solidFill>
              <a:latin typeface="Inter Medium"/>
            </a:endParaRPr>
          </a:p>
          <a:p>
            <a:pPr algn="l"/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Inter SemiBold"/>
              </a:rPr>
              <a:t>Programme</a:t>
            </a:r>
            <a:r>
              <a:rPr lang="en-IN" sz="1200" b="0" i="0" u="none" dirty="0">
                <a:solidFill>
                  <a:srgbClr val="64748B"/>
                </a:solidFill>
                <a:latin typeface="Inter SemiBold"/>
              </a:rPr>
              <a:t>                     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 dirty="0" err="1">
                <a:solidFill>
                  <a:srgbClr val="F8FAFC"/>
                </a:solidFill>
                <a:latin typeface="Inter Medium"/>
              </a:rPr>
              <a:t>B.Tech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 CSE (Core)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endParaRPr lang="en-IN" sz="1200" b="0" i="0" u="none" dirty="0">
              <a:solidFill>
                <a:srgbClr val="000000"/>
              </a:solidFill>
              <a:latin typeface="Inter"/>
            </a:endParaRPr>
          </a:p>
          <a:p>
            <a:pPr algn="l"/>
            <a:r>
              <a:rPr sz="1200" b="0" i="0" u="none" dirty="0">
                <a:solidFill>
                  <a:srgbClr val="64748B"/>
                </a:solidFill>
                <a:latin typeface="Inter SemiBold"/>
              </a:rPr>
              <a:t>Duration</a:t>
            </a:r>
            <a:r>
              <a:rPr lang="en-IN" sz="1200" b="0" i="0" u="none" dirty="0">
                <a:solidFill>
                  <a:srgbClr val="64748B"/>
                </a:solidFill>
                <a:latin typeface="Inter SemiBold"/>
              </a:rPr>
              <a:t>                            </a:t>
            </a:r>
            <a:r>
              <a:rPr sz="1200" b="0" i="0" u="none" dirty="0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8 Weeks  </a:t>
            </a:r>
            <a:endParaRPr lang="en-IN" sz="1200" dirty="0">
              <a:solidFill>
                <a:srgbClr val="F8FAFC"/>
              </a:solidFill>
              <a:latin typeface="Inter Medium"/>
            </a:endParaRPr>
          </a:p>
          <a:p>
            <a:pPr algn="l"/>
            <a:r>
              <a:rPr lang="en-IN" sz="1200" b="0" i="0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Inter Medium"/>
              </a:rPr>
              <a:t>I</a:t>
            </a:r>
            <a:r>
              <a:rPr sz="1200" b="0" i="0" u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Medium"/>
              </a:rPr>
              <a:t>nternship</a:t>
            </a:r>
            <a:r>
              <a:rPr sz="1200" b="0" i="0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Inter Medium"/>
              </a:rPr>
              <a:t> Completion</a:t>
            </a:r>
            <a:r>
              <a:rPr lang="en-IN" sz="1200" b="0" i="0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Inter Medium"/>
              </a:rPr>
              <a:t>   </a:t>
            </a:r>
            <a:r>
              <a:rPr sz="1200" b="0" i="0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Inter Medium"/>
              </a:rPr>
              <a:t> </a:t>
            </a:r>
            <a:r>
              <a:rPr sz="1200" b="0" i="0" u="none" dirty="0">
                <a:solidFill>
                  <a:srgbClr val="F8FAFC"/>
                </a:solidFill>
                <a:latin typeface="Inter Medium"/>
              </a:rPr>
              <a:t>12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3944094"/>
            <a:ext cx="28575" cy="15716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About the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3983" y="1441396"/>
            <a:ext cx="7632700" cy="257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06B6D4"/>
                </a:solidFill>
                <a:latin typeface="Inter"/>
              </a:rPr>
              <a:t>A structured journey from cybersecurity fundamentals to practical security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017365"/>
            <a:ext cx="4905375" cy="5884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chemeClr val="bg1"/>
                </a:solidFill>
                <a:latin typeface="Aptos Narrow" panose="020B0004020202020204" pitchFamily="34" charset="0"/>
              </a:rPr>
              <a:t>Introduction to ethical hacking and cybersecurity landscapes</a:t>
            </a: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 algn="l">
              <a:lnSpc>
                <a:spcPts val="2160"/>
              </a:lnSpc>
            </a:pP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r>
              <a:rPr lang="en-US" sz="1350" dirty="0">
                <a:solidFill>
                  <a:schemeClr val="bg1"/>
                </a:solidFill>
                <a:latin typeface="Aptos Narrow" panose="020B0004020202020204" pitchFamily="34" charset="0"/>
              </a:rPr>
              <a:t>Security fundamentals and understanding human-related risks</a:t>
            </a: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r>
              <a:rPr lang="en-US" sz="1350" dirty="0">
                <a:solidFill>
                  <a:schemeClr val="bg1"/>
                </a:solidFill>
                <a:latin typeface="Aptos Narrow" panose="020B0004020202020204" pitchFamily="34" charset="0"/>
              </a:rPr>
              <a:t>Malware concepts, behavior, and structural impact</a:t>
            </a: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r>
              <a:rPr lang="en-US" sz="1350" dirty="0">
                <a:solidFill>
                  <a:schemeClr val="bg1"/>
                </a:solidFill>
                <a:latin typeface="Aptos Narrow" panose="020B0004020202020204" pitchFamily="34" charset="0"/>
              </a:rPr>
              <a:t>Network security fundamentals and secure communications</a:t>
            </a: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r>
              <a:rPr lang="en-US" sz="1350" dirty="0">
                <a:solidFill>
                  <a:schemeClr val="bg1"/>
                </a:solidFill>
                <a:latin typeface="Aptos Narrow" panose="020B0004020202020204" pitchFamily="34" charset="0"/>
              </a:rPr>
              <a:t>Navigating Kali Linux and foundational security-testing concepts</a:t>
            </a: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r>
              <a:rPr lang="en-IN" sz="1350" dirty="0">
                <a:solidFill>
                  <a:schemeClr val="bg1"/>
                </a:solidFill>
                <a:latin typeface="Aptos Narrow" panose="020B0004020202020204" pitchFamily="34" charset="0"/>
              </a:rPr>
              <a:t>Web application vulnerability assessment methodologies</a:t>
            </a:r>
          </a:p>
          <a:p>
            <a:pPr>
              <a:lnSpc>
                <a:spcPts val="2160"/>
              </a:lnSpc>
            </a:pP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IN" sz="1350" dirty="0">
                <a:solidFill>
                  <a:schemeClr val="bg1"/>
                </a:solidFill>
                <a:latin typeface="Aptos Narrow" panose="020B0004020202020204" pitchFamily="34" charset="0"/>
              </a:rPr>
              <a:t>Basic authorized penetration testing workflows</a:t>
            </a:r>
          </a:p>
          <a:p>
            <a:pPr>
              <a:lnSpc>
                <a:spcPct val="100000"/>
              </a:lnSpc>
            </a:pP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r>
              <a:rPr lang="en-US" sz="1350" dirty="0">
                <a:solidFill>
                  <a:srgbClr val="E2E8F0"/>
                </a:solidFill>
                <a:latin typeface="Inter"/>
              </a:rPr>
              <a:t>Application of knowledge through a Capstone project</a:t>
            </a:r>
          </a:p>
          <a:p>
            <a:pPr>
              <a:lnSpc>
                <a:spcPct val="100000"/>
              </a:lnSpc>
            </a:pP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endParaRPr lang="en-IN" sz="1350" dirty="0">
              <a:solidFill>
                <a:schemeClr val="bg1"/>
              </a:solidFill>
              <a:latin typeface="Aptos Narrow" panose="020B0004020202020204" pitchFamily="34" charset="0"/>
            </a:endParaRP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Inter"/>
            </a:endParaRP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Inter"/>
            </a:endParaRP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Inter"/>
            </a:endParaRPr>
          </a:p>
          <a:p>
            <a:pPr>
              <a:lnSpc>
                <a:spcPts val="2160"/>
              </a:lnSpc>
            </a:pPr>
            <a:endParaRPr lang="en-US" sz="1350" dirty="0">
              <a:solidFill>
                <a:schemeClr val="bg1"/>
              </a:solidFill>
              <a:latin typeface="Inter"/>
            </a:endParaRPr>
          </a:p>
          <a:p>
            <a:pPr algn="l">
              <a:lnSpc>
                <a:spcPts val="2160"/>
              </a:lnSpc>
            </a:pPr>
            <a:endParaRPr sz="1350" b="0" i="0" u="none" dirty="0">
              <a:solidFill>
                <a:schemeClr val="bg1"/>
              </a:solidFill>
              <a:latin typeface="Inter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83" y="2094085"/>
            <a:ext cx="209550" cy="2190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651414"/>
            <a:ext cx="209550" cy="2190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189143"/>
            <a:ext cx="209550" cy="2190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3748087"/>
            <a:ext cx="209550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273491"/>
            <a:ext cx="209550" cy="2190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836264"/>
            <a:ext cx="209550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5350221"/>
            <a:ext cx="209550" cy="2190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425" y="5781675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79389"/>
            <a:ext cx="3492400" cy="184661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2979389"/>
            <a:ext cx="3492549" cy="184661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50" y="2979389"/>
            <a:ext cx="3492400" cy="18466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66825"/>
            <a:ext cx="110490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06B6D4"/>
                </a:solidFill>
                <a:latin typeface="Inter"/>
              </a:rPr>
              <a:t>Bridging cybersecurity theory with practical security awareness and testing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2217390"/>
            <a:ext cx="609600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6775" y="3017490"/>
            <a:ext cx="2510313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The Security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79440"/>
            <a:ext cx="29018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Modern systems, corporate networks, and web applications require continuous security assessment to preemptively discover and mitigate vulnerabilities before malicious actors can exploit them.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4925" y="2217390"/>
            <a:ext cx="609600" cy="609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4925" y="3017490"/>
            <a:ext cx="2540317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The Learning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925" y="3379440"/>
            <a:ext cx="2901999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There exists a significant gap between understanding cybersecurity concepts theoretically in a classroom and actually applying structured security-testing methodologies in practical environments.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25" y="2217390"/>
            <a:ext cx="609600" cy="609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3225" y="3017490"/>
            <a:ext cx="2680335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The Internship Approach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3225" y="3379440"/>
            <a:ext cx="290185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This internship addressed that gap by sequentially teaching ethical hacking fundamentals, networking, Kali Linux environments, and hands-on vulnerability assessment and penetration-testing concepts.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175" y="2369790"/>
            <a:ext cx="304800" cy="3048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9225" y="2369790"/>
            <a:ext cx="381000" cy="3048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525" y="2369790"/>
            <a:ext cx="3810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Internship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316509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 the fundamentals of ethical hacking.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28925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Learn core cybersecurity and information-security concepts.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615630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 the CIA Triad and common security risks.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128045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Study social engineering and human security vulnerabilities.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914751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 malware types, behaviour and impact.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750" y="2316509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Develop foundational networking and secure-communication knowledge.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0" y="3103215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Become familiar with Kali Linux and security-testing environments.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0" y="3889920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 web application vulnerability assessment.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0" y="4402335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Learn the fundamentals of authorized penetration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750" y="4914751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Apply the acquired concepts through a capstone project.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35559"/>
            <a:ext cx="209550" cy="2190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847975"/>
            <a:ext cx="209550" cy="2190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634680"/>
            <a:ext cx="209550" cy="2190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147095"/>
            <a:ext cx="209550" cy="2190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933801"/>
            <a:ext cx="209550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335559"/>
            <a:ext cx="209550" cy="2190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122265"/>
            <a:ext cx="209550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908970"/>
            <a:ext cx="209550" cy="2190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421385"/>
            <a:ext cx="209550" cy="2190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933801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43075"/>
            <a:ext cx="3094462" cy="20573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1743075"/>
            <a:ext cx="3094462" cy="20573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0" y="1743075"/>
            <a:ext cx="3094462" cy="20573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342774"/>
            <a:ext cx="3162300" cy="20389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4298246"/>
            <a:ext cx="3133724" cy="208350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0" y="4324350"/>
            <a:ext cx="3094462" cy="20573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 dirty="0">
                <a:solidFill>
                  <a:srgbClr val="F8FAFC"/>
                </a:solidFill>
                <a:latin typeface="Space Grotesk"/>
              </a:rPr>
              <a:t>Technologies &amp; Security Concepts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1752600"/>
            <a:ext cx="609600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6775" y="2457450"/>
            <a:ext cx="104013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Kali Linux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775" y="2819400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Introduced to the industry-standard security-testing operating system and its environment.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150" y="1752600"/>
            <a:ext cx="609600" cy="609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29150" y="2457450"/>
            <a:ext cx="1230153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Networking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150" y="2819400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Studied IP, ports, protocols, and foundational concepts of secure communications.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525" y="1752600"/>
            <a:ext cx="609600" cy="609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91525" y="2457450"/>
            <a:ext cx="1450181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Web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1525" y="2819400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Covered basic web application vulnerability assessment and security testing principles.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4333875"/>
            <a:ext cx="609600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6775" y="5038725"/>
            <a:ext cx="2120265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5400675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Understanding authorized testing methodologies and safe assessment workflows.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9150" y="4333875"/>
            <a:ext cx="609600" cy="609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29150" y="5038725"/>
            <a:ext cx="296037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Malware Analysis Concepts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150" y="5400675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Understanding various malware categories, their system behavior, and structural impact.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1525" y="4333875"/>
            <a:ext cx="609600" cy="609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391525" y="5038725"/>
            <a:ext cx="1990248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E2E8F0"/>
                </a:solidFill>
                <a:latin typeface="Space Grotesk"/>
              </a:rPr>
              <a:t>Social Engineering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1525" y="5400675"/>
            <a:ext cx="29337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Understanding human-focused security risks and psychological manipulation techniques.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8225" y="1905000"/>
            <a:ext cx="266700" cy="3048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450" y="1905000"/>
            <a:ext cx="381000" cy="304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3925" y="1905000"/>
            <a:ext cx="304800" cy="30480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9175" y="4486275"/>
            <a:ext cx="304800" cy="30480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81550" y="4486275"/>
            <a:ext cx="304800" cy="30480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5825" y="4486275"/>
            <a:ext cx="3810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35522"/>
            <a:ext cx="1455836" cy="2857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0211" y="2035522"/>
            <a:ext cx="1455985" cy="2857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072" y="2035522"/>
            <a:ext cx="1455985" cy="2857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932" y="2035522"/>
            <a:ext cx="1455985" cy="2857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6793" y="2035522"/>
            <a:ext cx="1455985" cy="2857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653" y="2035522"/>
            <a:ext cx="1455985" cy="2857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4514" y="2035522"/>
            <a:ext cx="1455985" cy="2857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18" y="2235547"/>
            <a:ext cx="304800" cy="304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5730" y="2235547"/>
            <a:ext cx="304800" cy="3048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4590" y="2235547"/>
            <a:ext cx="304800" cy="3048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451" y="2235547"/>
            <a:ext cx="304800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2311" y="2235547"/>
            <a:ext cx="304800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1172" y="2235547"/>
            <a:ext cx="304800" cy="3048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40032" y="2235547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Security Testing Workflow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" y="5907434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1575" y="5899844"/>
            <a:ext cx="76485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1" i="0" u="none" dirty="0">
                <a:solidFill>
                  <a:srgbClr val="F8FAFC"/>
                </a:solidFill>
                <a:latin typeface="Inter"/>
              </a:rPr>
              <a:t>Crucial Rule: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 Penetration testing and validation must </a:t>
            </a:r>
            <a:r>
              <a:rPr sz="1200" b="0" i="1" u="none" dirty="0">
                <a:solidFill>
                  <a:srgbClr val="F8FAFC"/>
                </a:solidFill>
                <a:latin typeface="Inter"/>
              </a:rPr>
              <a:t>only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 be performed with explicit, written authorization.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" y="2683222"/>
            <a:ext cx="1151036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Information Gathering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" y="3178522"/>
            <a:ext cx="1151036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Collecting preliminary data about the target system or network architecture.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611" y="2683222"/>
            <a:ext cx="115118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Security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2611" y="3178522"/>
            <a:ext cx="1151185" cy="692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Analyzing the collected data to understand structural controls.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1472" y="2683222"/>
            <a:ext cx="115118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Vulnerability Identification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21472" y="3178522"/>
            <a:ext cx="1151185" cy="692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Discovering potential security flaws and system weaknesses.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0332" y="2683222"/>
            <a:ext cx="115118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Validation / Authorized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0332" y="3378547"/>
            <a:ext cx="1151185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Controlled testing to verify if identified vulnerabilities are exploitable.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9193" y="2683222"/>
            <a:ext cx="11511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Risk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9193" y="2978497"/>
            <a:ext cx="1151185" cy="692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Evaluating the potential business impact of verified vulnerabilities.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8053" y="2683222"/>
            <a:ext cx="11511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Reporting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8053" y="2978497"/>
            <a:ext cx="1151185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Documenting findings with technical details and necessary evidence.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6914" y="2683222"/>
            <a:ext cx="115118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Space Grotesk"/>
              </a:rPr>
              <a:t>Remediation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6914" y="2978497"/>
            <a:ext cx="1151185" cy="8661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Providing actionable recommendations to patch and secure the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57325"/>
            <a:ext cx="2619375" cy="22240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1375" y="1457325"/>
            <a:ext cx="2619375" cy="22240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1457325"/>
            <a:ext cx="2619375" cy="222408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125" y="1457325"/>
            <a:ext cx="2619375" cy="222408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62412"/>
            <a:ext cx="2619375" cy="2224087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375" y="4062412"/>
            <a:ext cx="2619375" cy="222408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4062412"/>
            <a:ext cx="2619375" cy="2224087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125" y="4062412"/>
            <a:ext cx="2619375" cy="22240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Methodology: 8-Week 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676400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1895475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Ethical Hacking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213520"/>
            <a:ext cx="22383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Introduction to ethical hacking, cybersecurity concepts and security-testing fundamentals.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1875" y="1676400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1875" y="1895475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Security Fundamentals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1875" y="2213520"/>
            <a:ext cx="22383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CIA Triad, authentication, authorization and common security risks.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1676400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1750" y="1895475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Social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2213520"/>
            <a:ext cx="22383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Social engineering techniques and human factors in cybersecurity.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1625" y="1676400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1625" y="1895475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Malware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1625" y="2213520"/>
            <a:ext cx="22383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94A3B8"/>
                </a:solidFill>
                <a:latin typeface="Inter"/>
              </a:rPr>
              <a:t>Types, </a:t>
            </a:r>
            <a:r>
              <a:rPr sz="1050" b="0" i="0" u="none" dirty="0" err="1">
                <a:solidFill>
                  <a:srgbClr val="94A3B8"/>
                </a:solidFill>
                <a:latin typeface="Inter"/>
              </a:rPr>
              <a:t>behaviour</a:t>
            </a:r>
            <a:r>
              <a:rPr sz="1050" b="0" i="0" u="none" dirty="0">
                <a:solidFill>
                  <a:srgbClr val="94A3B8"/>
                </a:solidFill>
                <a:latin typeface="Inter"/>
              </a:rPr>
              <a:t>, impact and basic defensive understanding.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281487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500562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Network Essentials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4818608"/>
            <a:ext cx="22383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Networking fundamentals and secure communication concepts.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1875" y="4281487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1875" y="4500562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>
                <a:solidFill>
                  <a:srgbClr val="F8FAFC"/>
                </a:solidFill>
                <a:latin typeface="Inter SemiBold"/>
              </a:rPr>
              <a:t>Kali Linux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71875" y="4818608"/>
            <a:ext cx="22383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Introduction to Kali Linux and security-testing tools/environment.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1750" y="4281487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0" y="4500562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0" i="0" u="none" dirty="0">
                <a:solidFill>
                  <a:srgbClr val="F8FAFC"/>
                </a:solidFill>
                <a:latin typeface="Inter SemiBold"/>
              </a:rPr>
              <a:t>Web </a:t>
            </a:r>
            <a:r>
              <a:rPr lang="en-IN" sz="1350" dirty="0">
                <a:solidFill>
                  <a:srgbClr val="F8FAFC"/>
                </a:solidFill>
                <a:latin typeface="Inter SemiBold"/>
              </a:rPr>
              <a:t>Application</a:t>
            </a:r>
            <a:endParaRPr sz="135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381750" y="4818608"/>
            <a:ext cx="2238375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94A3B8"/>
                </a:solidFill>
                <a:latin typeface="Inter"/>
              </a:rPr>
              <a:t>Basic web application vulnerability assessment and </a:t>
            </a:r>
            <a:r>
              <a:rPr lang="en-IN" sz="1050" b="0" i="0" u="none" dirty="0">
                <a:solidFill>
                  <a:srgbClr val="94A3B8"/>
                </a:solidFill>
                <a:latin typeface="Inter"/>
              </a:rPr>
              <a:t>assess vulnerabilities through practical projects</a:t>
            </a:r>
            <a:r>
              <a:rPr sz="1050" b="0" i="0" u="none" dirty="0">
                <a:solidFill>
                  <a:srgbClr val="94A3B8"/>
                </a:solidFill>
                <a:latin typeface="Inter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1625" y="4281487"/>
            <a:ext cx="22383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6B6D4"/>
                </a:solidFill>
                <a:latin typeface="Space Grotesk"/>
              </a:rPr>
              <a:t>WEEK 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1625" y="4500562"/>
            <a:ext cx="2238375" cy="222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lang="en-IN" sz="1350" b="0" i="0" u="none" dirty="0">
                <a:solidFill>
                  <a:srgbClr val="F8FAFC"/>
                </a:solidFill>
                <a:latin typeface="Inter SemiBold"/>
              </a:rPr>
              <a:t>Penetration Testing</a:t>
            </a:r>
            <a:endParaRPr sz="135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191625" y="4818608"/>
            <a:ext cx="2238375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050" dirty="0">
                <a:solidFill>
                  <a:schemeClr val="bg1">
                    <a:lumMod val="75000"/>
                  </a:schemeClr>
                </a:solidFill>
              </a:rPr>
              <a:t>Perform hands-on penetration testing using Kali Linux tools and report vulnerabilities</a:t>
            </a:r>
            <a:endParaRPr sz="1050" b="0" i="0" u="none" dirty="0">
              <a:solidFill>
                <a:schemeClr val="bg1">
                  <a:lumMod val="75000"/>
                </a:schemeClr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92985"/>
            <a:ext cx="11049000" cy="1200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21323"/>
            <a:ext cx="5286375" cy="40499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1521323"/>
            <a:ext cx="5286375" cy="40499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Web Application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6040635"/>
            <a:ext cx="10553700" cy="704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1" i="0" u="none" dirty="0">
                <a:solidFill>
                  <a:srgbClr val="F8FAFC"/>
                </a:solidFill>
                <a:latin typeface="Inter"/>
              </a:rPr>
              <a:t>Vulnerability Assessment</a:t>
            </a:r>
            <a:r>
              <a:rPr sz="1500" b="0" i="0" u="none" dirty="0">
                <a:solidFill>
                  <a:srgbClr val="F8FAFC"/>
                </a:solidFill>
                <a:latin typeface="Inter"/>
              </a:rPr>
              <a:t> → 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Identifies potential weaknesses</a:t>
            </a:r>
            <a:r>
              <a:rPr dirty="0"/>
              <a:t>
</a:t>
            </a:r>
            <a:r>
              <a:rPr sz="1500" b="1" i="0" u="none" dirty="0">
                <a:solidFill>
                  <a:srgbClr val="F8FAFC"/>
                </a:solidFill>
                <a:latin typeface="Inter"/>
              </a:rPr>
              <a:t>Penetration Testing</a:t>
            </a:r>
            <a:r>
              <a:rPr sz="1500" b="0" i="0" u="none" dirty="0">
                <a:solidFill>
                  <a:srgbClr val="F8FAFC"/>
                </a:solidFill>
                <a:latin typeface="Inter"/>
              </a:rPr>
              <a:t> → </a:t>
            </a:r>
            <a:r>
              <a:rPr sz="1500" b="0" i="0" u="none" dirty="0">
                <a:solidFill>
                  <a:srgbClr val="94A3B8"/>
                </a:solidFill>
                <a:latin typeface="Inter"/>
              </a:rPr>
              <a:t>Validates security weaknesses through controlled authorized testing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1752600"/>
            <a:ext cx="609600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6775" y="2552700"/>
            <a:ext cx="3200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6B6D4"/>
                </a:solidFill>
                <a:latin typeface="Space Grotesk"/>
              </a:rPr>
              <a:t>Vulnerability Assessment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752600"/>
            <a:ext cx="609600" cy="60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9400" y="2552700"/>
            <a:ext cx="249031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6B6D4"/>
                </a:solidFill>
                <a:latin typeface="Space Grotesk"/>
              </a:rPr>
              <a:t>Penetration Testing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9175" y="1905000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7775" y="3162300"/>
            <a:ext cx="27051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Identifying potential weaknesses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7775" y="3674715"/>
            <a:ext cx="27051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Understanding security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75" y="4187130"/>
            <a:ext cx="27051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Assessing vulnerabilities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7775" y="4699545"/>
            <a:ext cx="27051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Documenting findings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0850" y="1905000"/>
            <a:ext cx="266700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10400" y="3162300"/>
            <a:ext cx="25527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Authorized security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0400" y="3674715"/>
            <a:ext cx="25527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Validating vulnerabilities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4187130"/>
            <a:ext cx="25527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Understanding potential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4699545"/>
            <a:ext cx="255270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Reporting and remediation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" y="3181350"/>
            <a:ext cx="209550" cy="2190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" y="3693765"/>
            <a:ext cx="209550" cy="2190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" y="4206180"/>
            <a:ext cx="209550" cy="2190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" y="4718595"/>
            <a:ext cx="209550" cy="2190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181350"/>
            <a:ext cx="209550" cy="2190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693765"/>
            <a:ext cx="209550" cy="2190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4206180"/>
            <a:ext cx="209550" cy="2190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4718595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9666" y="0"/>
            <a:ext cx="13341655" cy="1037091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87897"/>
            <a:ext cx="11049000" cy="2857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Technical Workflow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1275" y="3038623"/>
            <a:ext cx="95250" cy="152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650" y="2752873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00175" y="3467248"/>
            <a:ext cx="5524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733948"/>
            <a:ext cx="1428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Cybersecurity fundamentals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055" y="2952005"/>
            <a:ext cx="952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8430" y="2666255"/>
            <a:ext cx="571500" cy="571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53655" y="3380630"/>
            <a:ext cx="7810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9805" y="3647330"/>
            <a:ext cx="1428750" cy="5197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 dirty="0">
                <a:solidFill>
                  <a:srgbClr val="94A3B8"/>
                </a:solidFill>
                <a:latin typeface="Inter"/>
              </a:rPr>
              <a:t>Understand systems, networks and applications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835" y="3038623"/>
            <a:ext cx="95250" cy="1524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210" y="2752873"/>
            <a:ext cx="571500" cy="571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88110" y="3467248"/>
            <a:ext cx="6477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ASSESS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7585" y="3733948"/>
            <a:ext cx="1428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Identify potential vulnerabilities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4616" y="2952005"/>
            <a:ext cx="95250" cy="1524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991" y="2666255"/>
            <a:ext cx="571500" cy="571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60666" y="3380630"/>
            <a:ext cx="4381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5366" y="3647330"/>
            <a:ext cx="1428750" cy="5197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Perform controlled and authorized security testing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396" y="3038623"/>
            <a:ext cx="95250" cy="1524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1771" y="2752873"/>
            <a:ext cx="571500" cy="571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2221" y="3467248"/>
            <a:ext cx="9906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DOCUMENT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3146" y="3733948"/>
            <a:ext cx="1428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Record observations and findings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9552" y="2666255"/>
            <a:ext cx="571500" cy="571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029527" y="3380630"/>
            <a:ext cx="9715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REMEDIATE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0927" y="3647330"/>
            <a:ext cx="1428750" cy="5197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Inter"/>
              </a:rPr>
              <a:t>Understand mitigation and security improvement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7812" y="2924323"/>
            <a:ext cx="257175" cy="2286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880" y="2837705"/>
            <a:ext cx="228600" cy="2286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1153" y="2837705"/>
            <a:ext cx="257175" cy="22860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1796" y="2924323"/>
            <a:ext cx="171450" cy="2286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01002" y="2837705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Key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197447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Stronger understanding of ethical hacking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709862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Improved cybersecurity awareness.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222277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Understanding of security risks and vulnerabilities.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3734692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Knowledge of social engineering and human security risks.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247108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Understanding of malware categories and impact.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4759523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Better networking and secure-communication fundamentals.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0" y="2197447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Familiarity with Kali Linux security-testing environment.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0" y="2709862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Understanding of web application vulnerabilities.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0" y="3222277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Foundational knowledge of penetration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750" y="3734692"/>
            <a:ext cx="48577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Improved analytical and problem-solving approach.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0" y="4247108"/>
            <a:ext cx="48577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E2E8F0"/>
                </a:solidFill>
                <a:latin typeface="Inter"/>
              </a:rPr>
              <a:t>Better understanding of cybersecurity reporting and remediation.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16497"/>
            <a:ext cx="209550" cy="2190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28912"/>
            <a:ext cx="209550" cy="2190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41327"/>
            <a:ext cx="209550" cy="2190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753742"/>
            <a:ext cx="209550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66158"/>
            <a:ext cx="209550" cy="2190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778573"/>
            <a:ext cx="209550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216497"/>
            <a:ext cx="209550" cy="2190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728912"/>
            <a:ext cx="209550" cy="2190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241327"/>
            <a:ext cx="209550" cy="2190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753742"/>
            <a:ext cx="209550" cy="2190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266158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0" y="0"/>
            <a:ext cx="12647030" cy="741937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1630650"/>
            <a:ext cx="5381625" cy="235624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587" y="1630650"/>
            <a:ext cx="5381625" cy="235624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" y="4541221"/>
            <a:ext cx="5381625" cy="212151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4541221"/>
            <a:ext cx="5381625" cy="21215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Skills Developed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1752600"/>
            <a:ext cx="5030628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 dirty="0">
                <a:solidFill>
                  <a:srgbClr val="06B6D4"/>
                </a:solidFill>
                <a:latin typeface="Space Grotesk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775" y="2114550"/>
            <a:ext cx="4791075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4150" y="1752600"/>
            <a:ext cx="5030628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 dirty="0">
                <a:solidFill>
                  <a:srgbClr val="06B6D4"/>
                </a:solidFill>
                <a:latin typeface="Space Grotesk"/>
              </a:rPr>
              <a:t>NETWORKING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4150" y="2114550"/>
            <a:ext cx="4791075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6775" y="4680346"/>
            <a:ext cx="5030628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6B6D4"/>
                </a:solidFill>
                <a:latin typeface="Space Grotesk"/>
              </a:rPr>
              <a:t>WEB 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6775" y="5042296"/>
            <a:ext cx="4791075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4150" y="4680346"/>
            <a:ext cx="5030628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6B6D4"/>
                </a:solidFill>
                <a:latin typeface="Space Grotesk"/>
              </a:rPr>
              <a:t>PROFESSIONAL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4150" y="5042296"/>
            <a:ext cx="4791075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47775" y="2371725"/>
            <a:ext cx="21431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Ethical Hacking Fundamentals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7775" y="2729805"/>
            <a:ext cx="21431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Security 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775" y="3087885"/>
            <a:ext cx="21431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Vulnerability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7775" y="3445966"/>
            <a:ext cx="21431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Security Awareness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5150" y="2371725"/>
            <a:ext cx="16668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Network Fundamentals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5150" y="2729805"/>
            <a:ext cx="16668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Protocols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5150" y="3087885"/>
            <a:ext cx="16668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5150" y="3445966"/>
            <a:ext cx="16668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Secure Communication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7775" y="5299471"/>
            <a:ext cx="21050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Vulnerability Assessment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7775" y="5657552"/>
            <a:ext cx="21050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Web Security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7775" y="6015632"/>
            <a:ext cx="210502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Penetration Testing Concepts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5150" y="5299471"/>
            <a:ext cx="180975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Analytical Thinking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5150" y="5657552"/>
            <a:ext cx="180975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Problem Solving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15150" y="6015632"/>
            <a:ext cx="180975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Technical 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5150" y="6373713"/>
            <a:ext cx="180975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E2E8F0"/>
                </a:solidFill>
                <a:latin typeface="Inter"/>
              </a:rPr>
              <a:t>Security Mindset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2390775"/>
            <a:ext cx="209550" cy="219075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2748855"/>
            <a:ext cx="209550" cy="2190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3106935"/>
            <a:ext cx="209550" cy="219075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3465016"/>
            <a:ext cx="209550" cy="219075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2390775"/>
            <a:ext cx="209550" cy="219075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2748855"/>
            <a:ext cx="209550" cy="219075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3106935"/>
            <a:ext cx="209550" cy="219075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3465016"/>
            <a:ext cx="209550" cy="219075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5318521"/>
            <a:ext cx="209550" cy="219075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5676602"/>
            <a:ext cx="209550" cy="219075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6034682"/>
            <a:ext cx="209550" cy="219075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5318521"/>
            <a:ext cx="209550" cy="219075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5676602"/>
            <a:ext cx="209550" cy="219075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6034682"/>
            <a:ext cx="209550" cy="219075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6392763"/>
            <a:ext cx="209550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1" y="1457325"/>
            <a:ext cx="3695700" cy="4829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50" b="1" i="0" u="none">
                <a:solidFill>
                  <a:srgbClr val="F8FAFC"/>
                </a:solidFill>
                <a:latin typeface="Space Grotesk"/>
              </a:rPr>
              <a:t>Certification &amp;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025" y="2252662"/>
            <a:ext cx="45053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6B6D4"/>
                </a:solidFill>
                <a:latin typeface="Inter SemiBold"/>
              </a:rPr>
              <a:t>Issuer</a:t>
            </a:r>
            <a:r>
              <a:rPr sz="1200" b="0" i="0" u="none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Medium"/>
              </a:rPr>
              <a:t>EduSkills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2025" y="2947987"/>
            <a:ext cx="45053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6B6D4"/>
                </a:solidFill>
                <a:latin typeface="Inter SemiBold"/>
              </a:rPr>
              <a:t>Domain</a:t>
            </a:r>
            <a:r>
              <a:rPr sz="1200" b="0" i="0" u="none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Medium"/>
              </a:rPr>
              <a:t>Ethical Hacking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2025" y="3643312"/>
            <a:ext cx="45053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6B6D4"/>
                </a:solidFill>
                <a:latin typeface="Inter SemiBold"/>
              </a:rPr>
              <a:t>Duration</a:t>
            </a:r>
            <a:r>
              <a:rPr sz="1200" b="0" i="0" u="none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Medium"/>
              </a:rPr>
              <a:t>8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4338637"/>
            <a:ext cx="45053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6B6D4"/>
                </a:solidFill>
                <a:latin typeface="Inter SemiBold"/>
              </a:rPr>
              <a:t>Issued On</a:t>
            </a:r>
            <a:r>
              <a:rPr sz="1200" b="0" i="0" u="none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Medium"/>
              </a:rPr>
              <a:t>Jun 12,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5033962"/>
            <a:ext cx="45053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6B6D4"/>
                </a:solidFill>
                <a:latin typeface="Inter SemiBold"/>
              </a:rPr>
              <a:t>Certificate ID</a:t>
            </a:r>
            <a:r>
              <a:rPr sz="1200" b="0" i="0" u="none">
                <a:solidFill>
                  <a:srgbClr val="000000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Medium"/>
              </a:rPr>
              <a:t>2026-C0C67193F2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987F08-AB29-E1C2-6C6F-945878AF11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291" y="1712382"/>
            <a:ext cx="6138341" cy="4375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3565177"/>
            <a:ext cx="10382250" cy="790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20690" y="1370707"/>
            <a:ext cx="4950618" cy="11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1" i="0" u="none">
                <a:solidFill>
                  <a:srgbClr val="06B6D4"/>
                </a:solidFill>
                <a:latin typeface="Space Grotesk"/>
              </a:rPr>
              <a:t>Thank You!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874740"/>
            <a:ext cx="152400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3550" y="3860452"/>
            <a:ext cx="12477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Navya Mahajan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2325" y="3874740"/>
            <a:ext cx="219075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76650" y="3860452"/>
            <a:ext cx="15335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B.Tech CSE (Core)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1175" y="3874740"/>
            <a:ext cx="171450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7875" y="3860452"/>
            <a:ext cx="24384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IILM University, Greater Noida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7275" y="3874740"/>
            <a:ext cx="19050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63025" y="3860452"/>
            <a:ext cx="17430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Roll No.: 2410030563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811</Words>
  <Application>Microsoft Office PowerPoint</Application>
  <PresentationFormat>Widescreen</PresentationFormat>
  <Paragraphs>171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 Narrow</vt:lpstr>
      <vt:lpstr>Arial</vt:lpstr>
      <vt:lpstr>Calibri</vt:lpstr>
      <vt:lpstr>Inter</vt:lpstr>
      <vt:lpstr>Inter Medium</vt:lpstr>
      <vt:lpstr>Inter SemiBold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Navya Mahajan</cp:lastModifiedBy>
  <cp:revision>2</cp:revision>
  <dcterms:created xsi:type="dcterms:W3CDTF">2013-01-27T09:14:16Z</dcterms:created>
  <dcterms:modified xsi:type="dcterms:W3CDTF">2026-09-10T19:37:42Z</dcterms:modified>
  <cp:category/>
</cp:coreProperties>
</file>